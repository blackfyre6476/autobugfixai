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50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552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to the AutoFix AI presentation. This deck covers the problem statement, autonomous multi-agent architecture, sandbox validation pipeline, safety controls, and the working implementation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 outlines the primary pain points in modern software engineering: manual debugging overhead, regression risks from unvalidated patches, and the lack of autonomous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3 presents the AutoFix AI solution pillars: autonomous multi-agent analysis, dual sandbox validation, and review-first safety controls.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4 details the three core workflow agents: Repository Analyst, Bug Investigator, and Fix Generator, showing how context flows sequentially through the orchestration engine.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5 illustrates the isolated test runner sandbox architecture, highlighting dual disposable copies for validation and regression checks before granting ready_for_review status.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6 details the key architecture components: Next.js frontend, FastAPI backend, Orchestration engine, Repository Auditor, and Git Manager.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7 outlines the core safety controls: read-only analysis, allow-listed test execution, path escape safeguards, and guarded Git branching.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8 lays out the seven implementation phases across foundation, core engine, API, dashboard, heuristic fallbacks, and explicit Git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9 concludes the deck by mapping system capabilities directly to evaluation criteria and highlighting key value takeaways.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29-Sep-26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1097280"/>
            <a:ext cx="10362895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463040"/>
            <a:ext cx="94484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0284C7"/>
                </a:solidFill>
                <a:latin typeface="Verdana"/>
              </a:defRPr>
            </a:pPr>
            <a:r>
              <a:rPr dirty="0"/>
              <a:t>AUTOFIX AI ARCHITECTURE</a:t>
            </a:r>
          </a:p>
          <a:p>
            <a:pPr>
              <a:spcAft>
                <a:spcPts val="1200"/>
              </a:spcAft>
              <a:defRPr sz="3600" b="1">
                <a:solidFill>
                  <a:srgbClr val="F8FAFC"/>
                </a:solidFill>
                <a:latin typeface="Georgia"/>
              </a:defRPr>
            </a:pPr>
            <a:r>
              <a:rPr dirty="0"/>
              <a:t>Autonomous AI Bug Fixing Assistant</a:t>
            </a:r>
          </a:p>
          <a:p>
            <a:pPr>
              <a:defRPr sz="1600">
                <a:solidFill>
                  <a:srgbClr val="94A3B8"/>
                </a:solidFill>
                <a:latin typeface="Verdana"/>
              </a:defRPr>
            </a:pPr>
            <a:r>
              <a:rPr dirty="0"/>
              <a:t>End-to-End Bug Diagnosis, Sandbox Validation &amp; Review-First Code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749039"/>
            <a:ext cx="9448495" cy="12700"/>
          </a:xfrm>
          <a:prstGeom prst="rect">
            <a:avLst/>
          </a:prstGeom>
          <a:solidFill>
            <a:srgbClr val="0369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484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8FAFC"/>
                </a:solidFill>
                <a:latin typeface="Verdana"/>
              </a:defRPr>
            </a:pPr>
            <a:r>
              <a:t>Key System Highlights:</a:t>
            </a:r>
          </a:p>
          <a:p>
            <a:pPr>
              <a:defRPr sz="1200">
                <a:solidFill>
                  <a:srgbClr val="CBD5E1"/>
                </a:solidFill>
                <a:latin typeface="Verdana"/>
              </a:defRPr>
            </a:pPr>
            <a:r>
              <a:t>• Multi-Agent Workflow (Analyst, Investigator, Generator)  |  • Dual Sandbox Validation &amp; Regression Runs</a:t>
            </a:r>
            <a:br/>
            <a:r>
              <a:t>• Review-First Safety Model (Read-Only Analysis)  |  • FastAPI Backend &amp; Next.js Review Dashboard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553A50-562F-49B2-4CCF-4A9339148485}"/>
              </a:ext>
            </a:extLst>
          </p:cNvPr>
          <p:cNvSpPr txBox="1"/>
          <p:nvPr/>
        </p:nvSpPr>
        <p:spPr>
          <a:xfrm>
            <a:off x="1371600" y="3310128"/>
            <a:ext cx="3822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By Saatvik Gulati 26A124</a:t>
            </a:r>
            <a:endParaRPr lang="en-IN" dirty="0">
              <a:solidFill>
                <a:schemeClr val="tx2">
                  <a:lumMod val="60000"/>
                  <a:lumOff val="4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AUTOFIX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Manual Bug Resolution Bottlenecks Software Velocity and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254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2871216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284C7"/>
                </a:solidFill>
                <a:latin typeface="Verdana"/>
              </a:defRPr>
            </a:pPr>
            <a:r>
              <a:t>01. HIGH DEBUGGING OVERHEAD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Manual Root Cause Isolation</a:t>
            </a:r>
          </a:p>
          <a:p>
            <a:pPr>
              <a:spcAft>
                <a:spcPts val="1200"/>
              </a:spcAft>
              <a:defRPr sz="1100">
                <a:solidFill>
                  <a:srgbClr val="475569"/>
                </a:solidFill>
                <a:latin typeface="Verdana"/>
              </a:defRPr>
            </a:pPr>
            <a:r>
              <a:t>Developer teams spend extensive time parsing stack traces, matching logs to code, and locating bug origins across expanding codebases.</a:t>
            </a:r>
          </a:p>
          <a:p>
            <a:pPr>
              <a:defRPr sz="1000" b="1">
                <a:solidFill>
                  <a:srgbClr val="0369A1"/>
                </a:solidFill>
                <a:latin typeface="Verdana"/>
              </a:defRPr>
            </a:pPr>
            <a:r>
              <a:t>Impact: Halts feature velocity and increases developer burnout.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554480"/>
            <a:ext cx="3328416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54296" y="1783080"/>
            <a:ext cx="2871216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284C7"/>
                </a:solidFill>
                <a:latin typeface="Verdana"/>
              </a:defRPr>
            </a:pPr>
            <a:r>
              <a:t>02. UNVALIDATED PATCH RISKS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High Risk of Regression</a:t>
            </a:r>
          </a:p>
          <a:p>
            <a:pPr>
              <a:spcAft>
                <a:spcPts val="1200"/>
              </a:spcAft>
              <a:defRPr sz="1100">
                <a:solidFill>
                  <a:srgbClr val="475569"/>
                </a:solidFill>
                <a:latin typeface="Verdana"/>
              </a:defRPr>
            </a:pPr>
            <a:r>
              <a:t>Code fixes applied directly without automated sandbox validation frequently introduce secondary defects into production environments.</a:t>
            </a:r>
          </a:p>
          <a:p>
            <a:pPr>
              <a:defRPr sz="1000" b="1">
                <a:solidFill>
                  <a:srgbClr val="0369A1"/>
                </a:solidFill>
                <a:latin typeface="Verdana"/>
              </a:defRPr>
            </a:pPr>
            <a:r>
              <a:t>Impact: Production outages and brittle software releases.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554480"/>
            <a:ext cx="3328416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48472" y="1783080"/>
            <a:ext cx="2871216" cy="2834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0284C7"/>
                </a:solidFill>
                <a:latin typeface="Verdana"/>
              </a:defRPr>
            </a:pPr>
            <a:r>
              <a:t>03. LACK OF AUTONOMOUS AI TOOLS</a:t>
            </a:r>
          </a:p>
          <a:p>
            <a:pPr>
              <a:spcAft>
                <a:spcPts val="10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Siloed LLM Chat Tools</a:t>
            </a:r>
          </a:p>
          <a:p>
            <a:pPr>
              <a:spcAft>
                <a:spcPts val="1200"/>
              </a:spcAft>
              <a:defRPr sz="1100">
                <a:solidFill>
                  <a:srgbClr val="475569"/>
                </a:solidFill>
                <a:latin typeface="Verdana"/>
              </a:defRPr>
            </a:pPr>
            <a:r>
              <a:t>Existing chat assistants generate isolated code snippets but lack automated repo scanning, isolated execution, and automated testing.</a:t>
            </a:r>
          </a:p>
          <a:p>
            <a:pPr>
              <a:defRPr sz="1000" b="1">
                <a:solidFill>
                  <a:srgbClr val="0369A1"/>
                </a:solidFill>
                <a:latin typeface="Verdana"/>
              </a:defRPr>
            </a:pPr>
            <a:r>
              <a:t>Impact: Manual copy-pasting without end-to-end safety checks.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728655" cy="12801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5166360"/>
            <a:ext cx="102714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369A1"/>
                </a:solidFill>
                <a:latin typeface="Verdana"/>
              </a:defRPr>
            </a:pPr>
            <a:r>
              <a:t>THE CORE CHALLENGE &amp; OPPORTUNITY</a:t>
            </a:r>
          </a:p>
          <a:p>
            <a:pPr>
              <a:defRPr sz="1200">
                <a:solidFill>
                  <a:srgbClr val="0F172A"/>
                </a:solidFill>
                <a:latin typeface="Verdana"/>
              </a:defRPr>
            </a:pPr>
            <a:r>
              <a:t>Build an Autonomous AI Bug Fixing Assistant that independently diagnoses root causes from stack traces, generates precise code fixes, validates them in disposable sandboxes via pytest/unittest, and presents review-ready patches.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AUTOFIX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AutoFix AI Automates Bug Resolution with Review-First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254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83080"/>
            <a:ext cx="2871216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  <a:latin typeface="Verdana"/>
              </a:defRPr>
            </a:pPr>
            <a:r>
              <a:t>01. MULTI-AGENT PIPELINE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t>Intelligent Diagnosis</a:t>
            </a:r>
          </a:p>
          <a:p>
            <a:pPr>
              <a:spcAft>
                <a:spcPts val="200"/>
              </a:spcAft>
              <a:defRPr sz="1200" b="1">
                <a:solidFill>
                  <a:srgbClr val="0369A1"/>
                </a:solidFill>
                <a:latin typeface="Verdana"/>
              </a:defRPr>
            </a:pPr>
            <a:r>
              <a:t>• Repository Analyst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  <a:latin typeface="Verdana"/>
              </a:defRPr>
            </a:pPr>
            <a:r>
              <a:t>Enumerates Python, JS, TS, and TSX files and maps test files.</a:t>
            </a:r>
          </a:p>
          <a:p>
            <a:pPr>
              <a:spcAft>
                <a:spcPts val="200"/>
              </a:spcAft>
              <a:defRPr sz="1200" b="1">
                <a:solidFill>
                  <a:srgbClr val="0369A1"/>
                </a:solidFill>
                <a:latin typeface="Verdana"/>
              </a:defRPr>
            </a:pPr>
            <a:r>
              <a:t>• Bug Investigator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  <a:latin typeface="Verdana"/>
              </a:defRPr>
            </a:pPr>
            <a:r>
              <a:t>Matches error log keywords and stack traces to isolate affected code.</a:t>
            </a:r>
          </a:p>
          <a:p>
            <a:pPr>
              <a:spcAft>
                <a:spcPts val="200"/>
              </a:spcAft>
              <a:defRPr sz="1200" b="1">
                <a:solidFill>
                  <a:srgbClr val="0369A1"/>
                </a:solidFill>
                <a:latin typeface="Verdana"/>
              </a:defRPr>
            </a:pPr>
            <a:r>
              <a:t>• Fix Generator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  <a:latin typeface="Verdana"/>
              </a:defRPr>
            </a:pPr>
            <a:r>
              <a:t>Queries LLMs or heuristic engine for structured search-and-replace patches.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54296" y="1783080"/>
            <a:ext cx="2871216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  <a:latin typeface="Verdana"/>
              </a:defRPr>
            </a:pPr>
            <a:r>
              <a:t>02. DUAL SANDBOX VALIDATION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t>Automated Testing</a:t>
            </a:r>
          </a:p>
          <a:p>
            <a:pPr>
              <a:spcAft>
                <a:spcPts val="200"/>
              </a:spcAft>
              <a:defRPr sz="1200" b="1">
                <a:solidFill>
                  <a:srgbClr val="0369A1"/>
                </a:solidFill>
                <a:latin typeface="Verdana"/>
              </a:defRPr>
            </a:pPr>
            <a:r>
              <a:t>• Validation Run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  <a:latin typeface="Verdana"/>
              </a:defRPr>
            </a:pPr>
            <a:r>
              <a:t>Applies candidate edits to a fresh disposable repository copy and executes test commands.</a:t>
            </a:r>
          </a:p>
          <a:p>
            <a:pPr>
              <a:spcAft>
                <a:spcPts val="200"/>
              </a:spcAft>
              <a:defRPr sz="1200" b="1">
                <a:solidFill>
                  <a:srgbClr val="0369A1"/>
                </a:solidFill>
                <a:latin typeface="Verdana"/>
              </a:defRPr>
            </a:pPr>
            <a:r>
              <a:t>• Regression Run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  <a:latin typeface="Verdana"/>
              </a:defRPr>
            </a:pPr>
            <a:r>
              <a:t>Applies edits to a separate fresh copy to ensure zero broken functionality.</a:t>
            </a:r>
          </a:p>
          <a:p>
            <a:pPr>
              <a:spcAft>
                <a:spcPts val="200"/>
              </a:spcAft>
              <a:defRPr sz="1200" b="1">
                <a:solidFill>
                  <a:srgbClr val="0369A1"/>
                </a:solidFill>
                <a:latin typeface="Verdana"/>
              </a:defRPr>
            </a:pPr>
            <a:r>
              <a:t>• 60-Second Timeout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  <a:latin typeface="Verdana"/>
              </a:defRPr>
            </a:pPr>
            <a:r>
              <a:t>Enforces strict resource limits and returns clear test evidence.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554480"/>
            <a:ext cx="3328416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48472" y="1783080"/>
            <a:ext cx="2871216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00" b="1">
                <a:solidFill>
                  <a:srgbClr val="0284C7"/>
                </a:solidFill>
                <a:latin typeface="Verdana"/>
              </a:defRPr>
            </a:pPr>
            <a:r>
              <a:t>03. REVIEW-FIRST SAFETY</a:t>
            </a:r>
          </a:p>
          <a:p>
            <a:pPr>
              <a:spcAft>
                <a:spcPts val="14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t>Guarded Integration</a:t>
            </a:r>
          </a:p>
          <a:p>
            <a:pPr>
              <a:spcAft>
                <a:spcPts val="200"/>
              </a:spcAft>
              <a:defRPr sz="1200" b="1">
                <a:solidFill>
                  <a:srgbClr val="0369A1"/>
                </a:solidFill>
                <a:latin typeface="Verdana"/>
              </a:defRPr>
            </a:pPr>
            <a:r>
              <a:t>• Read-Only Analysis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  <a:latin typeface="Verdana"/>
              </a:defRPr>
            </a:pPr>
            <a:r>
              <a:t>Original repository remains 100% untouched throughout analysis and testing.</a:t>
            </a:r>
          </a:p>
          <a:p>
            <a:pPr>
              <a:spcAft>
                <a:spcPts val="200"/>
              </a:spcAft>
              <a:defRPr sz="1200" b="1">
                <a:solidFill>
                  <a:srgbClr val="0369A1"/>
                </a:solidFill>
                <a:latin typeface="Verdana"/>
              </a:defRPr>
            </a:pPr>
            <a:r>
              <a:t>• Interactive Review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  <a:latin typeface="Verdana"/>
              </a:defRPr>
            </a:pPr>
            <a:r>
              <a:t>Presents diffs, logs, and root cause reasoning in Next.js dashboard.</a:t>
            </a:r>
          </a:p>
          <a:p>
            <a:pPr>
              <a:spcAft>
                <a:spcPts val="200"/>
              </a:spcAft>
              <a:defRPr sz="1200" b="1">
                <a:solidFill>
                  <a:srgbClr val="0369A1"/>
                </a:solidFill>
                <a:latin typeface="Verdana"/>
              </a:defRPr>
            </a:pPr>
            <a:r>
              <a:t>• Explicit Git Apply</a:t>
            </a:r>
          </a:p>
          <a:p>
            <a:pPr>
              <a:spcAft>
                <a:spcPts val="1000"/>
              </a:spcAft>
              <a:defRPr sz="1050">
                <a:solidFill>
                  <a:srgbClr val="475569"/>
                </a:solidFill>
                <a:latin typeface="Verdana"/>
              </a:defRPr>
            </a:pPr>
            <a:r>
              <a:t>Creates new autofix/ branch and commits edits only upon user confirmation.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AUTOFIX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Three Specialized Agents Drive Diagnosis and Patch Generation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254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2871216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AGENT 01</a:t>
            </a:r>
          </a:p>
          <a:p>
            <a:pPr>
              <a:spcAft>
                <a:spcPts val="2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t>Repository Analyst</a:t>
            </a:r>
          </a:p>
          <a:p>
            <a:pPr>
              <a:spcAft>
                <a:spcPts val="1000"/>
              </a:spcAft>
              <a:defRPr sz="1050" b="1">
                <a:solidFill>
                  <a:srgbClr val="0369A1"/>
                </a:solidFill>
                <a:latin typeface="Verdana"/>
              </a:defRPr>
            </a:pPr>
            <a:r>
              <a:t>Codebase Discovery &amp; Inventory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• Enumerates Python, JS, TS, TSX source files.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• Identifies pytest &amp; unittest test suites.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• Establishes repository structural map.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• Executes prior to investigation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33088" y="3200400"/>
            <a:ext cx="2194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284C7"/>
                </a:solidFill>
              </a:defRPr>
            </a:pPr>
            <a:r>
              <a:t>➔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55448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54296" y="1737360"/>
            <a:ext cx="2871216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AGENT 02</a:t>
            </a:r>
          </a:p>
          <a:p>
            <a:pPr>
              <a:spcAft>
                <a:spcPts val="2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t>Bug Investigator</a:t>
            </a:r>
          </a:p>
          <a:p>
            <a:pPr>
              <a:spcAft>
                <a:spcPts val="1000"/>
              </a:spcAft>
              <a:defRPr sz="1050" b="1">
                <a:solidFill>
                  <a:srgbClr val="0369A1"/>
                </a:solidFill>
                <a:latin typeface="Verdana"/>
              </a:defRPr>
            </a:pPr>
            <a:r>
              <a:t>Root Cause &amp; File Isolation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• Extracts filenames &amp; line numbers from traces.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• Ranks affected source files by relevance.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• Infers underlying root cause of error.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• Hands off targeted context to generator.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3200400"/>
            <a:ext cx="219456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0284C7"/>
                </a:solidFill>
              </a:defRPr>
            </a:pPr>
            <a:r>
              <a:t>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554480"/>
            <a:ext cx="3328416" cy="3931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348472" y="1737360"/>
            <a:ext cx="2871216" cy="3566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AGENT 03</a:t>
            </a:r>
          </a:p>
          <a:p>
            <a:pPr>
              <a:spcAft>
                <a:spcPts val="200"/>
              </a:spcAft>
              <a:defRPr sz="1800" b="1">
                <a:solidFill>
                  <a:srgbClr val="0F172A"/>
                </a:solidFill>
                <a:latin typeface="Georgia"/>
              </a:defRPr>
            </a:pPr>
            <a:r>
              <a:t>Fix Generator</a:t>
            </a:r>
          </a:p>
          <a:p>
            <a:pPr>
              <a:spcAft>
                <a:spcPts val="1000"/>
              </a:spcAft>
              <a:defRPr sz="1050" b="1">
                <a:solidFill>
                  <a:srgbClr val="0369A1"/>
                </a:solidFill>
                <a:latin typeface="Verdana"/>
              </a:defRPr>
            </a:pPr>
            <a:r>
              <a:t>LLM &amp; Heuristic Repair Engine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• Queries OpenAI-compatible API when configured.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• Generates structured, line-precise edits.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• Uses built-in heuristic engine as fallback.</a:t>
            </a:r>
          </a:p>
          <a:p>
            <a:pPr>
              <a:spcAft>
                <a:spcPts val="6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• Passes candidate edits to sandbox runner.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623560"/>
            <a:ext cx="10728655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5715000"/>
            <a:ext cx="1027145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ORCHESTRATION PIPELINE INTEGRATION</a:t>
            </a:r>
          </a:p>
          <a:p>
            <a:pPr>
              <a:defRPr sz="1050">
                <a:solidFill>
                  <a:srgbClr val="0F172A"/>
                </a:solidFill>
                <a:latin typeface="Verdana"/>
              </a:defRPr>
            </a:pPr>
            <a:r>
              <a:t>The orchestrator executes Analyst ➔ Investigator ➔ Generator in sequence, passing structured context forward and capturing full journey telemetry for transparent dashboard display.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AUTOFIX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Dual Sandbox Runs Guarantee Zero Code Regression Before Review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254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718304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284C7"/>
                </a:solidFill>
                <a:latin typeface="Verdana"/>
              </a:defRPr>
            </a:pPr>
            <a:r>
              <a:t>RUN 1: VALIDATION PHASE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Georgia"/>
              </a:defRPr>
            </a:pPr>
            <a:r>
              <a:t>Isolated Bug Fix Verification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  <a:latin typeface="Verdana"/>
              </a:defRPr>
            </a:pPr>
            <a:r>
              <a:t>• Copies repo to a fresh temporary workspace directory (`/tmp`).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  <a:latin typeface="Verdana"/>
              </a:defRPr>
            </a:pPr>
            <a:r>
              <a:t>• Applies candidate search-and-replace patch operations.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  <a:latin typeface="Verdana"/>
              </a:defRPr>
            </a:pPr>
            <a:r>
              <a:t>• Executes target test command (`pytest` or `unittest`).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  <a:latin typeface="Verdana"/>
              </a:defRPr>
            </a:pPr>
            <a:r>
              <a:t>• Enforces strict 60-second execution timeout.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  <a:latin typeface="Verdana"/>
              </a:defRPr>
            </a:pPr>
            <a:r>
              <a:t>• Validates that the reported bug is successfully resolved.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270" y="1554480"/>
            <a:ext cx="5175504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06870" y="1737360"/>
            <a:ext cx="4718304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59669"/>
                </a:solidFill>
                <a:latin typeface="Verdana"/>
              </a:defRPr>
            </a:pPr>
            <a:r>
              <a:t>RUN 2: REGRESSION PHASE</a:t>
            </a:r>
          </a:p>
          <a:p>
            <a:pPr>
              <a:spcAft>
                <a:spcPts val="1000"/>
              </a:spcAft>
              <a:defRPr sz="1700" b="1">
                <a:solidFill>
                  <a:srgbClr val="0F172A"/>
                </a:solidFill>
                <a:latin typeface="Georgia"/>
              </a:defRPr>
            </a:pPr>
            <a:r>
              <a:t>Full Suite Integrity Check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  <a:latin typeface="Verdana"/>
              </a:defRPr>
            </a:pPr>
            <a:r>
              <a:t>• Spins up a second fresh disposable workspace copy.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  <a:latin typeface="Verdana"/>
              </a:defRPr>
            </a:pPr>
            <a:r>
              <a:t>• Applies the identical candidate patch operations.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  <a:latin typeface="Verdana"/>
              </a:defRPr>
            </a:pPr>
            <a:r>
              <a:t>• Runs the broader test suite to check existing functionality.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  <a:latin typeface="Verdana"/>
              </a:defRPr>
            </a:pPr>
            <a:r>
              <a:t>• Ensures zero unexpected side effects or broken tests.</a:t>
            </a:r>
          </a:p>
          <a:p>
            <a:pPr>
              <a:spcAft>
                <a:spcPts val="500"/>
              </a:spcAft>
              <a:defRPr sz="1050">
                <a:solidFill>
                  <a:srgbClr val="475569"/>
                </a:solidFill>
                <a:latin typeface="Verdana"/>
              </a:defRPr>
            </a:pPr>
            <a:r>
              <a:t>• Guarantees codebase stability prior to human presentation.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728655" cy="11430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5394960"/>
            <a:ext cx="102714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59669"/>
                </a:solidFill>
                <a:latin typeface="Verdana"/>
              </a:defRPr>
            </a:pPr>
            <a:r>
              <a:t>DUAL-GATE STATUS DETERMINATION</a:t>
            </a:r>
          </a:p>
          <a:p>
            <a:pPr>
              <a:defRPr sz="1100">
                <a:solidFill>
                  <a:srgbClr val="0F172A"/>
                </a:solidFill>
                <a:latin typeface="Verdana"/>
              </a:defRPr>
            </a:pPr>
            <a:r>
              <a:t>• ready_for_review: Assigned ONLY if candidate operations exist AND both Validation + Regression test runs pass.</a:t>
            </a:r>
            <a:br/>
            <a:r>
              <a:t>• validation_failed: Assigned if test failures occur or timeout is hit; complete logs returned for diagnostic review.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AUTOFIX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FastAPI Backend Coordinates Multi-Agent Pipeline and Sandbox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254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" y="1691640"/>
            <a:ext cx="2011680" cy="5943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755648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0369A1"/>
                </a:solidFill>
                <a:latin typeface="Verdana"/>
              </a:defRPr>
            </a:pPr>
            <a:r>
              <a:t>FRONTEND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0" y="1664208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Georgia"/>
              </a:defRPr>
            </a:pPr>
            <a:r>
              <a:t>Next.js Dashboard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Provides interactive UI for repository submission, bug log input, live progress tracking, patch diff viewing, and explicit approval triggering.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532888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" y="2670048"/>
            <a:ext cx="2011680" cy="5943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2734056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0369A1"/>
                </a:solidFill>
                <a:latin typeface="Verdana"/>
              </a:defRPr>
            </a:pPr>
            <a:r>
              <a:t>REST API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2642616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Georgia"/>
              </a:defRPr>
            </a:pPr>
            <a:r>
              <a:t>FastAPI API Engine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Exposes /api/v1 endpoints for health, analyze, audit, and apply-approved operations with strict Pydantic model validation.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511296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8680" y="3648456"/>
            <a:ext cx="2011680" cy="5943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3712464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0369A1"/>
                </a:solidFill>
                <a:latin typeface="Verdana"/>
              </a:defRPr>
            </a:pPr>
            <a:r>
              <a:t>CORE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621024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Georgia"/>
              </a:defRPr>
            </a:pPr>
            <a:r>
              <a:t>Orchestrator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Coordinates sequential agent execution, handles LLM vs. heuristic fallbacks, manages sandbox runs, and packages unified JSON responses.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489704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68680" y="4626864"/>
            <a:ext cx="2011680" cy="5943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14400" y="4690872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0369A1"/>
                </a:solidFill>
                <a:latin typeface="Verdana"/>
              </a:defRPr>
            </a:pPr>
            <a:r>
              <a:t>PATTERN SCANNER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599432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Georgia"/>
              </a:defRPr>
            </a:pPr>
            <a:r>
              <a:t>Repository Auditor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Independently scans Python, JS, TS, and TSX files for direct bug patterns (e.g. bare division, direct dict key access) without running test suite.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468112"/>
            <a:ext cx="10728655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68680" y="5605272"/>
            <a:ext cx="2011680" cy="594360"/>
          </a:xfrm>
          <a:prstGeom prst="roundRect">
            <a:avLst/>
          </a:prstGeom>
          <a:solidFill>
            <a:srgbClr val="E0F2FE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4400" y="5669280"/>
            <a:ext cx="1920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900" b="1">
                <a:solidFill>
                  <a:srgbClr val="0369A1"/>
                </a:solidFill>
                <a:latin typeface="Verdana"/>
              </a:defRPr>
            </a:pPr>
            <a:r>
              <a:t>WRITE MANAGER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5577840"/>
            <a:ext cx="82296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0F172A"/>
                </a:solidFill>
                <a:latin typeface="Georgia"/>
              </a:defRPr>
            </a:pPr>
            <a:r>
              <a:t>Git Manager</a:t>
            </a:r>
          </a:p>
          <a:p>
            <a:pPr>
              <a:defRPr sz="1000">
                <a:solidFill>
                  <a:srgbClr val="475569"/>
                </a:solidFill>
                <a:latin typeface="Verdana"/>
              </a:defRPr>
            </a:pPr>
            <a:r>
              <a:t>Applies confirmed patches onto a new autofix/ branch, verifies clean tree state, commits changes, and returns Git diff summary.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AUTOFIX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Multi-Layered Safety Controls Protect Production Repositories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254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718304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01. READ-ONLY ANALYSIS</a:t>
            </a:r>
          </a:p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Zero Direct Code Modification</a:t>
            </a:r>
          </a:p>
          <a:p>
            <a:pPr>
              <a:defRPr sz="1050">
                <a:solidFill>
                  <a:srgbClr val="475569"/>
                </a:solidFill>
                <a:latin typeface="Verdana"/>
              </a:defRPr>
            </a:pPr>
            <a:r>
              <a:t>Original working repository is strictly read-only during analysis. All candidate edits and test commands run exclusively in disposable temporary directories.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270" y="1554480"/>
            <a:ext cx="5175504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06870" y="1737360"/>
            <a:ext cx="4718304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02. ALLOW-LISTED EXECUTION</a:t>
            </a:r>
          </a:p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Strict Test Execution Boundaries</a:t>
            </a:r>
          </a:p>
          <a:p>
            <a:pPr>
              <a:defRPr sz="1050">
                <a:solidFill>
                  <a:srgbClr val="475569"/>
                </a:solidFill>
                <a:latin typeface="Verdana"/>
              </a:defRPr>
            </a:pPr>
            <a:r>
              <a:t>Commands are allow-listed to pytest or unittest with enforced 60-second timeouts. Prevents arbitrary shell execution or infinite loops.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5175504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60120" y="4297680"/>
            <a:ext cx="4718304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03. PATH ESCAPE SAFEGUARDS</a:t>
            </a:r>
          </a:p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Targeted Search-and-Replace Edits</a:t>
            </a:r>
          </a:p>
          <a:p>
            <a:pPr>
              <a:defRPr sz="1050">
                <a:solidFill>
                  <a:srgbClr val="475569"/>
                </a:solidFill>
                <a:latin typeface="Verdana"/>
              </a:defRPr>
            </a:pPr>
            <a:r>
              <a:t>Candidate edits use repository-relative paths and exact string matches. Edits attempting ambiguous replacements or path escaping are rejected.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78270" y="4114800"/>
            <a:ext cx="5175504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06870" y="4297680"/>
            <a:ext cx="4718304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04. GUARDED GIT BRANCHING</a:t>
            </a:r>
          </a:p>
          <a:p>
            <a:pPr>
              <a:spcAft>
                <a:spcPts val="800"/>
              </a:spcAft>
              <a:defRPr sz="1600" b="1">
                <a:solidFill>
                  <a:srgbClr val="0F172A"/>
                </a:solidFill>
                <a:latin typeface="Georgia"/>
              </a:defRPr>
            </a:pPr>
            <a:r>
              <a:t>Explicit Approval Write Path</a:t>
            </a:r>
          </a:p>
          <a:p>
            <a:pPr>
              <a:defRPr sz="1050">
                <a:solidFill>
                  <a:srgbClr val="475569"/>
                </a:solidFill>
                <a:latin typeface="Verdana"/>
              </a:defRPr>
            </a:pPr>
            <a:r>
              <a:t>Modifications to target repositories require explicit approval_confirmed=true, a clean Git tree, and write only to isolated autofix/ branches.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AUTOFIX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Seven Implementation Phases Deliver Production-Ready Bug Resolution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254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175504" cy="47548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07008" y="1691640"/>
            <a:ext cx="4471416" cy="262123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0284C7"/>
                </a:solidFill>
                <a:latin typeface="Verdana"/>
              </a:defRPr>
            </a:pPr>
            <a:r>
              <a:rPr dirty="0"/>
              <a:t>FOUNDATION &amp; CORE ENGINE (PHASES 1-4)</a:t>
            </a:r>
          </a:p>
          <a:p>
            <a:pPr>
              <a:defRPr sz="1300" b="1">
                <a:solidFill>
                  <a:srgbClr val="0F172A"/>
                </a:solidFill>
                <a:latin typeface="Georgia"/>
              </a:defRPr>
            </a:pPr>
            <a:r>
              <a:rPr dirty="0"/>
              <a:t>• Phase 1: Schema Definition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rPr dirty="0"/>
              <a:t>Build request and response validation models for bug runs, patches, and test evidence.</a:t>
            </a:r>
          </a:p>
          <a:p>
            <a:pPr>
              <a:defRPr sz="1300" b="1">
                <a:solidFill>
                  <a:srgbClr val="0F172A"/>
                </a:solidFill>
                <a:latin typeface="Georgia"/>
              </a:defRPr>
            </a:pPr>
            <a:r>
              <a:rPr dirty="0"/>
              <a:t>• Phase 2: Modular Agent Suite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rPr dirty="0"/>
              <a:t>Develop Repository Analyst, Bug Investigator, and Fix Generator agent classes.</a:t>
            </a:r>
          </a:p>
          <a:p>
            <a:pPr>
              <a:defRPr sz="1300" b="1">
                <a:solidFill>
                  <a:srgbClr val="0F172A"/>
                </a:solidFill>
                <a:latin typeface="Georgia"/>
              </a:defRPr>
            </a:pPr>
            <a:r>
              <a:rPr dirty="0"/>
              <a:t>• Phase 3: Orchestration Engine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rPr dirty="0"/>
              <a:t>Coordinate sequential pipeline execution, logging every stage and telemetry metric.</a:t>
            </a:r>
          </a:p>
          <a:p>
            <a:pPr>
              <a:defRPr sz="1300" b="1">
                <a:solidFill>
                  <a:srgbClr val="0F172A"/>
                </a:solidFill>
                <a:latin typeface="Georgia"/>
              </a:defRPr>
            </a:pPr>
            <a:r>
              <a:rPr dirty="0"/>
              <a:t>• Phase 4: Disposable Sandbox Runner</a:t>
            </a:r>
          </a:p>
          <a:p>
            <a:pPr>
              <a:spcAft>
                <a:spcPts val="8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rPr dirty="0"/>
              <a:t>Implement temporary workspace copy runner with </a:t>
            </a:r>
            <a:r>
              <a:rPr dirty="0" err="1"/>
              <a:t>pytest</a:t>
            </a:r>
            <a:r>
              <a:rPr dirty="0"/>
              <a:t> execution and 60s timeout.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8270" y="1554480"/>
            <a:ext cx="5175504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34886" y="1755648"/>
            <a:ext cx="4718304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059669"/>
                </a:solidFill>
                <a:latin typeface="Verdana"/>
              </a:defRPr>
            </a:pPr>
            <a:r>
              <a:rPr dirty="0"/>
              <a:t>INTEGRATION &amp; APPROVAL PATH (PHASES 5-7)</a:t>
            </a:r>
          </a:p>
          <a:p>
            <a:pPr>
              <a:defRPr sz="1300" b="1">
                <a:solidFill>
                  <a:srgbClr val="0F172A"/>
                </a:solidFill>
                <a:latin typeface="Georgia"/>
              </a:defRPr>
            </a:pPr>
            <a:r>
              <a:rPr dirty="0"/>
              <a:t>• Phase 5: API &amp; Web Dashboard</a:t>
            </a:r>
          </a:p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rPr dirty="0"/>
              <a:t>Expose </a:t>
            </a:r>
            <a:r>
              <a:rPr dirty="0" err="1"/>
              <a:t>FastAPI</a:t>
            </a:r>
            <a:r>
              <a:rPr dirty="0"/>
              <a:t> endpoints (/fixes/analyze, /audit) and build Next.js interactive UI.</a:t>
            </a:r>
          </a:p>
          <a:p>
            <a:pPr>
              <a:defRPr sz="1300" b="1">
                <a:solidFill>
                  <a:srgbClr val="0F172A"/>
                </a:solidFill>
                <a:latin typeface="Georgia"/>
              </a:defRPr>
            </a:pPr>
            <a:r>
              <a:rPr dirty="0"/>
              <a:t>• Phase 6: Fallback &amp; Automated Tests</a:t>
            </a:r>
          </a:p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rPr dirty="0"/>
              <a:t>Implement heuristic generator fallback and write full </a:t>
            </a:r>
            <a:r>
              <a:rPr dirty="0" err="1"/>
              <a:t>pytest</a:t>
            </a:r>
            <a:r>
              <a:rPr dirty="0"/>
              <a:t> test suite for backend.</a:t>
            </a:r>
          </a:p>
          <a:p>
            <a:pPr>
              <a:defRPr sz="1300" b="1">
                <a:solidFill>
                  <a:srgbClr val="0F172A"/>
                </a:solidFill>
                <a:latin typeface="Georgia"/>
              </a:defRPr>
            </a:pPr>
            <a:r>
              <a:rPr dirty="0"/>
              <a:t>• Phase 7: Explicit Approval Git Integration</a:t>
            </a:r>
          </a:p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rPr dirty="0"/>
              <a:t>Add /apply-approved endpoint with clean Git tree checks, branching, and diff generation.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284C7"/>
                </a:solidFill>
                <a:latin typeface="Verdana"/>
              </a:defRPr>
            </a:pPr>
            <a:r>
              <a:t>AUTOFIX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21792"/>
            <a:ext cx="10728655" cy="685800"/>
          </a:xfrm>
          <a:prstGeom prst="rect">
            <a:avLst/>
          </a:prstGeom>
          <a:noFill/>
        </p:spPr>
        <p:txBody>
          <a:bodyPr wrap="square" lIns="0" tIns="0" rIns="0" bIns="0">
            <a:normAutofit/>
          </a:bodyPr>
          <a:lstStyle/>
          <a:p>
            <a:pPr>
              <a:defRPr sz="2200" b="1">
                <a:solidFill>
                  <a:srgbClr val="0F172A"/>
                </a:solidFill>
                <a:latin typeface="Georgia"/>
              </a:defRPr>
            </a:pPr>
            <a:r>
              <a:t>AutoFix AI Combines High Diagnosis Accuracy with Review-First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254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94360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691640"/>
            <a:ext cx="5486400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0"/>
              </a:spcAft>
              <a:defRPr sz="1000" b="1">
                <a:solidFill>
                  <a:srgbClr val="0284C7"/>
                </a:solidFill>
                <a:latin typeface="Verdana"/>
              </a:defRPr>
            </a:pPr>
            <a:r>
              <a:t>EVALUATION CRITERIA ALIGNMENT</a:t>
            </a:r>
          </a:p>
          <a:p>
            <a:pPr>
              <a:defRPr sz="1100" b="1">
                <a:solidFill>
                  <a:srgbClr val="0F172A"/>
                </a:solidFill>
                <a:latin typeface="Verdana"/>
              </a:defRPr>
            </a:pPr>
            <a:r>
              <a:t>• Root Cause Accuracy (20%)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   Stack trace parsing &amp; Investigator matching.</a:t>
            </a:r>
          </a:p>
          <a:p>
            <a:pPr>
              <a:defRPr sz="1100" b="1">
                <a:solidFill>
                  <a:srgbClr val="0F172A"/>
                </a:solidFill>
                <a:latin typeface="Verdana"/>
              </a:defRPr>
            </a:pPr>
            <a:r>
              <a:t>• Quality of Generated Fixes (20%)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   Line-precise search/replace patches + LLM/heuristic.</a:t>
            </a:r>
          </a:p>
          <a:p>
            <a:pPr>
              <a:defRPr sz="1100" b="1">
                <a:solidFill>
                  <a:srgbClr val="0F172A"/>
                </a:solidFill>
                <a:latin typeface="Verdana"/>
              </a:defRPr>
            </a:pPr>
            <a:r>
              <a:t>• Sandbox Testing &amp; Validation (20%)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   Dual-run disposable copy runner with 60s timeout.</a:t>
            </a:r>
          </a:p>
          <a:p>
            <a:pPr>
              <a:defRPr sz="1100" b="1">
                <a:solidFill>
                  <a:srgbClr val="0F172A"/>
                </a:solidFill>
                <a:latin typeface="Verdana"/>
              </a:defRPr>
            </a:pPr>
            <a:r>
              <a:t>• Multi-Agent &amp; LLM Design (20%)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   Analyst, Investigator &amp; Generator orchestration.</a:t>
            </a:r>
          </a:p>
          <a:p>
            <a:pPr>
              <a:defRPr sz="1100" b="1">
                <a:solidFill>
                  <a:srgbClr val="0F172A"/>
                </a:solidFill>
                <a:latin typeface="Verdana"/>
              </a:defRPr>
            </a:pPr>
            <a:r>
              <a:t>• User Experience &amp; Innovation (10%)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   Next.js dashboard &amp; explicit review-first flow.</a:t>
            </a:r>
          </a:p>
          <a:p>
            <a:pPr>
              <a:defRPr sz="1100" b="1">
                <a:solidFill>
                  <a:srgbClr val="0F172A"/>
                </a:solidFill>
                <a:latin typeface="Verdana"/>
              </a:defRPr>
            </a:pPr>
            <a:r>
              <a:t>• Presentation &amp; Demo (10%)</a:t>
            </a:r>
          </a:p>
          <a:p>
            <a:pPr>
              <a:spcAft>
                <a:spcPts val="400"/>
              </a:spcAft>
              <a:defRPr sz="1000">
                <a:solidFill>
                  <a:srgbClr val="475569"/>
                </a:solidFill>
                <a:latin typeface="Verdana"/>
              </a:defRPr>
            </a:pPr>
            <a:r>
              <a:t>   Comprehensive architecture &amp; live debugging journey.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554480"/>
            <a:ext cx="4419295" cy="47548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269480" y="1691640"/>
            <a:ext cx="3962095" cy="4480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284C7"/>
                </a:solidFill>
                <a:latin typeface="Verdana"/>
              </a:defRPr>
            </a:pPr>
            <a:r>
              <a:t>KEY VALUE TAKEAWAYS</a:t>
            </a:r>
          </a:p>
          <a:p>
            <a:pPr>
              <a:defRPr sz="1400" b="1">
                <a:solidFill>
                  <a:srgbClr val="F8FAFC"/>
                </a:solidFill>
                <a:latin typeface="Georgia"/>
              </a:defRPr>
            </a:pPr>
            <a:r>
              <a:t>Autonomous Software Engineer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  <a:latin typeface="Verdana"/>
              </a:defRPr>
            </a:pPr>
            <a:r>
              <a:t>Acts as an intelligent assistant that diagnoses, fixes, validates, and documents software defects independently.</a:t>
            </a:r>
          </a:p>
          <a:p>
            <a:pPr>
              <a:defRPr sz="1400" b="1">
                <a:solidFill>
                  <a:srgbClr val="F8FAFC"/>
                </a:solidFill>
                <a:latin typeface="Georgia"/>
              </a:defRPr>
            </a:pPr>
            <a:r>
              <a:t>Zero Risk to Production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  <a:latin typeface="Verdana"/>
              </a:defRPr>
            </a:pPr>
            <a:r>
              <a:t>Read-only analysis + dual sandbox execution guarantees existing functionality is never unexpectedly broken.</a:t>
            </a:r>
          </a:p>
          <a:p>
            <a:pPr>
              <a:defRPr sz="1400" b="1">
                <a:solidFill>
                  <a:srgbClr val="F8FAFC"/>
                </a:solidFill>
                <a:latin typeface="Georgia"/>
              </a:defRPr>
            </a:pPr>
            <a:r>
              <a:t>Human Developer Control</a:t>
            </a:r>
          </a:p>
          <a:p>
            <a:pPr>
              <a:spcAft>
                <a:spcPts val="1200"/>
              </a:spcAft>
              <a:defRPr sz="1050">
                <a:solidFill>
                  <a:srgbClr val="94A3B8"/>
                </a:solidFill>
                <a:latin typeface="Verdana"/>
              </a:defRPr>
            </a:pPr>
            <a:r>
              <a:t>Preserves developer trust through transparent debugging journey logs, full diff previews, and explicit approval required for Git commits.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1611</Words>
  <Application>Microsoft Office PowerPoint</Application>
  <PresentationFormat>Widescreen</PresentationFormat>
  <Paragraphs>173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Saatvik Gulati</cp:lastModifiedBy>
  <cp:revision>3</cp:revision>
  <dcterms:created xsi:type="dcterms:W3CDTF">2013-01-27T09:14:16Z</dcterms:created>
  <dcterms:modified xsi:type="dcterms:W3CDTF">2026-09-29T14:10:37Z</dcterms:modified>
  <cp:category/>
</cp:coreProperties>
</file>